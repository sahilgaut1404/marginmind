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image" Target="../media/image-4-2.png"/><Relationship Id="rId9" Type="http://schemas.openxmlformats.org/officeDocument/2006/relationships/image" Target="../media/image-4-9.png"/><Relationship Id="rId10" Type="http://schemas.openxmlformats.org/officeDocument/2006/relationships/image" Target="../media/image-4-2.png"/><Relationship Id="rId11" Type="http://schemas.openxmlformats.org/officeDocument/2006/relationships/image" Target="../media/image-4-11.png"/><Relationship Id="rId12" Type="http://schemas.openxmlformats.org/officeDocument/2006/relationships/image" Target="../media/image-4-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1.png"/><Relationship Id="rId5" Type="http://schemas.openxmlformats.org/officeDocument/2006/relationships/image" Target="../media/image-5-1.png"/><Relationship Id="rId6" Type="http://schemas.openxmlformats.org/officeDocument/2006/relationships/image" Target="../media/image-5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2.png"/><Relationship Id="rId5" Type="http://schemas.openxmlformats.org/officeDocument/2006/relationships/image" Target="../media/image-8-5.png"/><Relationship Id="rId6" Type="http://schemas.openxmlformats.org/officeDocument/2006/relationships/image" Target="../media/image-8-2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2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42C6E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2331720"/>
            <a:ext cx="1371600" cy="13716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5" name="Image 0" descr="/home/claude/marginmind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268833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MarginMind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2461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Merchant Revenue Growth Assistant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3840480"/>
            <a:ext cx="1280160" cy="0"/>
          </a:xfrm>
          <a:prstGeom prst="line">
            <a:avLst/>
          </a:prstGeom>
          <a:noFill/>
          <a:ln w="38100">
            <a:solidFill>
              <a:srgbClr val="00B8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0233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business data into better decisions.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212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 online store is not only about selling products. A merchant may have hundreds of products, many orders, different prices and a large amount of stock. The difficult part is knowing what to do next.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3685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arginmind/icons/help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3815791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4343400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needs attention?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136392" y="34290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64992" y="3685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marginmind/icons/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751" y="3815791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337560" y="4343400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price should be changed?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724144" y="34290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52744" y="3685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marginmind/icons/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503" y="3815791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25312" y="4343400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stock sitting without enough sales?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311896" y="3429000"/>
            <a:ext cx="23317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540496" y="36850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home/claude/marginmind/icons/bar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1255" y="3815791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513064" y="4343400"/>
            <a:ext cx="19293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the merchant decide without checking everything manually?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080760" y="1417320"/>
            <a:ext cx="5532120" cy="1783080"/>
          </a:xfrm>
          <a:prstGeom prst="roundRect">
            <a:avLst>
              <a:gd name="adj" fmla="val 5128"/>
            </a:avLst>
          </a:prstGeom>
          <a:solidFill>
            <a:srgbClr val="1E276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355080" y="16002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merchant should not have to manually check every number to know what to do next.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helps merchants understand what is happening in their business and decide what to do next. It looks across the core signals of the business: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2698852" y="242316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arginmind/icon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2257" y="2696566"/>
            <a:ext cx="504749" cy="5047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424532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Sales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34460" y="2423160"/>
            <a:ext cx="1051560" cy="10515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9" name="Image 1" descr="/home/claude/marginmind/icons/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865" y="2696566"/>
            <a:ext cx="504749" cy="50474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860140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570068" y="242316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marginmind/icons/shoppingc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73" y="2696566"/>
            <a:ext cx="504749" cy="5047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95748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005676" y="2423160"/>
            <a:ext cx="1051560" cy="10515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5" name="Image 3" descr="/home/claude/marginmind/icons/pack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9081" y="2696566"/>
            <a:ext cx="504749" cy="504749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731356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441284" y="2423160"/>
            <a:ext cx="1051560" cy="10515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4" descr="/home/claude/marginmind/icons/t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689" y="2696566"/>
            <a:ext cx="504749" cy="504749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166964" y="35844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Prices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548640" y="4160520"/>
            <a:ext cx="11064240" cy="173736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68680" y="4572000"/>
            <a:ext cx="914400" cy="9144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2" name="Image 5" descr="/home/claude/marginmind/icons/targ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809744"/>
            <a:ext cx="438912" cy="43891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2011680" y="4370832"/>
            <a:ext cx="9052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then gives the merchant clear, product-level recommendations based on the available business data.</a:t>
            </a:r>
            <a:endParaRPr lang="en-US" sz="1700" dirty="0"/>
          </a:p>
        </p:txBody>
      </p:sp>
      <p:sp>
        <p:nvSpPr>
          <p:cNvPr id="24" name="Text 16"/>
          <p:cNvSpPr txBox="1"/>
          <p:nvPr/>
        </p:nvSpPr>
        <p:spPr>
          <a:xfrm>
            <a:off x="2011680" y="498348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always has the final say before a recommendation is applied.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MarginMind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6" name="Image 0" descr="/home/claude/marginmind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9708" y="3233684"/>
            <a:ext cx="280904" cy="2809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Data</a:t>
            </a:r>
            <a:endParaRPr lang="en-US" sz="1100" dirty="0"/>
          </a:p>
        </p:txBody>
      </p:sp>
      <p:pic>
        <p:nvPicPr>
          <p:cNvPr id="8" name="Image 1" descr="/home/claude/marginmind/icons/arrowright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59" y="3593592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53869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592781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1" name="Image 2" descr="/home/claude/marginmind/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937" y="3233684"/>
            <a:ext cx="280904" cy="2809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227021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100" dirty="0"/>
          </a:p>
        </p:txBody>
      </p:sp>
      <p:pic>
        <p:nvPicPr>
          <p:cNvPr id="13" name="Image 3" descr="/home/claude/marginmind/icons/arrowright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9988" y="3593592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59098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4198010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6" name="Image 4" descr="/home/claude/marginmind/icons/bar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0167" y="3233684"/>
            <a:ext cx="280904" cy="28090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3832250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Insights</a:t>
            </a:r>
            <a:endParaRPr lang="en-US" sz="1100" dirty="0"/>
          </a:p>
        </p:txBody>
      </p:sp>
      <p:pic>
        <p:nvPicPr>
          <p:cNvPr id="18" name="Image 5" descr="/home/claude/marginmind/icons/arrowright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5217" y="3593592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364328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03240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1" name="Image 6" descr="/home/claude/marginmind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5396" y="3233684"/>
            <a:ext cx="280904" cy="28090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437480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pic>
        <p:nvPicPr>
          <p:cNvPr id="23" name="Image 7" descr="/home/claude/marginmind/icons/arrowright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0446" y="3593592"/>
            <a:ext cx="256032" cy="25603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6969557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25" name="Shape 15"/>
          <p:cNvSpPr/>
          <p:nvPr/>
        </p:nvSpPr>
        <p:spPr>
          <a:xfrm>
            <a:off x="7408469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6" name="Image 8" descr="/home/claude/marginmind/icons/users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0625" y="3233684"/>
            <a:ext cx="280904" cy="280904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042709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Approval</a:t>
            </a:r>
            <a:endParaRPr lang="en-US" sz="1100" dirty="0"/>
          </a:p>
        </p:txBody>
      </p:sp>
      <p:pic>
        <p:nvPicPr>
          <p:cNvPr id="28" name="Image 9" descr="/home/claude/marginmind/icons/arrowrightwhit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75675" y="3593592"/>
            <a:ext cx="256032" cy="256032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8574786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9013698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31" name="Image 10" descr="/home/claude/marginmind/icons/play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5854" y="3233684"/>
            <a:ext cx="280904" cy="280904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647938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pic>
        <p:nvPicPr>
          <p:cNvPr id="33" name="Image 11" descr="/home/claude/marginmind/icons/arrowrightwhit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80905" y="3593592"/>
            <a:ext cx="256032" cy="256032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10180015" y="2880360"/>
            <a:ext cx="1463040" cy="1691640"/>
          </a:xfrm>
          <a:prstGeom prst="roundRect">
            <a:avLst>
              <a:gd name="adj" fmla="val 6250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35" name="Shape 21"/>
          <p:cNvSpPr/>
          <p:nvPr/>
        </p:nvSpPr>
        <p:spPr>
          <a:xfrm>
            <a:off x="10618927" y="3081528"/>
            <a:ext cx="585216" cy="585216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36" name="Image 12" descr="/home/claude/marginmind/icons/filetext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71083" y="3233684"/>
            <a:ext cx="280904" cy="280904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0253167" y="3794760"/>
            <a:ext cx="1316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Record</a:t>
            </a:r>
            <a:endParaRPr lang="en-US" sz="1100" dirty="0"/>
          </a:p>
        </p:txBody>
      </p:sp>
      <p:sp>
        <p:nvSpPr>
          <p:cNvPr id="38" name="Text 23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keeps the decision process simple and gives the merchant control at every important step.</a:t>
            </a:r>
            <a:endParaRPr lang="en-US" sz="1500" dirty="0"/>
          </a:p>
        </p:txBody>
      </p:sp>
      <p:sp>
        <p:nvSpPr>
          <p:cNvPr id="39" name="Text 24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0" name="Text 25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CONVERSATION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the Merchant Ask?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9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arginmind/icons/message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28800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25856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my business performing?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5087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26280" y="1709928"/>
            <a:ext cx="457200" cy="4572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0" name="Image 1" descr="/home/claude/marginmind/icons/message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1828800"/>
            <a:ext cx="219456" cy="21945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25856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sells the most?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01584" y="150876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02752" y="17099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home/claude/marginmind/icons/message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4" y="1828800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302752" y="225856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has excess stock?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320040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8" name="Image 3" descr="/home/claude/marginmind/icons/message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20440"/>
            <a:ext cx="219456" cy="21945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9808" y="39502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should I change the price for?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25112" y="320040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26280" y="34015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/home/claude/marginmind/icons/message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3520440"/>
            <a:ext cx="219456" cy="219456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6280" y="39502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I do to increase sales?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01584" y="3200400"/>
            <a:ext cx="352044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02752" y="3401568"/>
            <a:ext cx="457200" cy="4572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6" name="Image 5" descr="/home/claude/marginmind/icons/message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4" y="3520440"/>
            <a:ext cx="219456" cy="21945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302752" y="395020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my product performance.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need to manually search through different numbers to understand the business.</a:t>
            </a:r>
            <a:endParaRPr lang="en-US" sz="1350" dirty="0"/>
          </a:p>
        </p:txBody>
      </p:sp>
      <p:sp>
        <p:nvSpPr>
          <p:cNvPr id="29" name="Text 21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IN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Recommendations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identifies products that deserve attention based on sales and stock information.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07492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3317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arginmind/icons/pack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8308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 C Charger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review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291840"/>
            <a:ext cx="4434840" cy="7772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051560" y="32918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29184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₹3,000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68680" y="4197096"/>
            <a:ext cx="4434840" cy="7772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51560" y="419709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197096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68680" y="5102352"/>
            <a:ext cx="4434840" cy="7772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051560" y="510235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3291840" y="5102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5852160" y="2057400"/>
            <a:ext cx="5760720" cy="3977640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72200" y="2331720"/>
            <a:ext cx="640080" cy="64008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1" name="Image 1" descr="/home/claude/marginmind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621" y="2498141"/>
            <a:ext cx="307238" cy="307238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699516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000" dirty="0"/>
          </a:p>
        </p:txBody>
      </p:sp>
      <p:sp>
        <p:nvSpPr>
          <p:cNvPr id="23" name="Text 19"/>
          <p:cNvSpPr txBox="1"/>
          <p:nvPr/>
        </p:nvSpPr>
        <p:spPr>
          <a:xfrm>
            <a:off x="6172200" y="31546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flags this product for a price change and explains why it was selected — high stock paired with low sales volume.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6172200" y="4617720"/>
            <a:ext cx="5120640" cy="0"/>
          </a:xfrm>
          <a:prstGeom prst="line">
            <a:avLst/>
          </a:prstGeom>
          <a:noFill/>
          <a:ln w="12700">
            <a:solidFill>
              <a:srgbClr val="39418A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172200" y="48006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 is shown to the merchant before anything is changed.</a:t>
            </a:r>
            <a:endParaRPr lang="en-US" sz="1450" dirty="0"/>
          </a:p>
        </p:txBody>
      </p:sp>
      <p:sp>
        <p:nvSpPr>
          <p:cNvPr id="26" name="Text 22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IN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Approval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does not directly change the merchant’s price. Every recommendation passes through a clear approval step.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788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arginmin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7515" y="29791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proposes a change</a:t>
            </a:r>
            <a:endParaRPr lang="en-US" sz="1150" dirty="0"/>
          </a:p>
        </p:txBody>
      </p:sp>
      <p:pic>
        <p:nvPicPr>
          <p:cNvPr id="10" name="Image 1" descr="/home/claude/marginmind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797" y="3721608"/>
            <a:ext cx="237744" cy="23774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3818" y="2514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92498" y="2788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marginmind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694" y="297911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560978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Merchant Reviews It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606698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context is shown</a:t>
            </a:r>
            <a:endParaRPr lang="en-US" sz="1150" dirty="0"/>
          </a:p>
        </p:txBody>
      </p:sp>
      <p:pic>
        <p:nvPicPr>
          <p:cNvPr id="16" name="Image 3" descr="/home/claude/marginmind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976" y="3721608"/>
            <a:ext cx="237744" cy="2377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98997" y="2514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67677" y="2788920"/>
            <a:ext cx="731520" cy="7315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9" name="Image 4" descr="/home/claude/marginmind/icons/thumbs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872" y="2979115"/>
            <a:ext cx="351130" cy="35113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36157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Approves or Rejects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481877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makes the call</a:t>
            </a:r>
            <a:endParaRPr lang="en-US" sz="1150" dirty="0"/>
          </a:p>
        </p:txBody>
      </p:sp>
      <p:pic>
        <p:nvPicPr>
          <p:cNvPr id="22" name="Image 5" descr="/home/claude/marginmind/icons/arrow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2154" y="3721608"/>
            <a:ext cx="237744" cy="237744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74175" y="2514600"/>
            <a:ext cx="2468880" cy="26517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042855" y="27889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6" descr="/home/claude/marginmind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3050" y="2979115"/>
            <a:ext cx="351130" cy="35113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311335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Applied</a:t>
            </a:r>
            <a:endParaRPr lang="en-US" sz="1500" dirty="0"/>
          </a:p>
        </p:txBody>
      </p:sp>
      <p:sp>
        <p:nvSpPr>
          <p:cNvPr id="27" name="Text 18"/>
          <p:cNvSpPr txBox="1"/>
          <p:nvPr/>
        </p:nvSpPr>
        <p:spPr>
          <a:xfrm>
            <a:off x="9357055" y="4297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approved changes go live</a:t>
            </a:r>
            <a:endParaRPr lang="en-US" sz="115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gives the merchant control over important business decisions.</a:t>
            </a:r>
            <a:endParaRPr lang="en-US" sz="1450" dirty="0"/>
          </a:p>
        </p:txBody>
      </p:sp>
      <p:sp>
        <p:nvSpPr>
          <p:cNvPr id="29" name="Text 20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COMMERCE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and Orders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 purchase products through Razorpay Test Mode. A successful payment flows straight into the merchant’s business data.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48740" y="3063240"/>
            <a:ext cx="731520" cy="7315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7" name="Image 0" descr="/home/claude/marginmind/icons/credit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8935" y="32534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Verified</a:t>
            </a:r>
            <a:endParaRPr lang="en-US" sz="1350" dirty="0"/>
          </a:p>
        </p:txBody>
      </p:sp>
      <p:pic>
        <p:nvPicPr>
          <p:cNvPr id="9" name="Image 1" descr="/home/claude/marginmind/icons/arrowright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933" y="3611880"/>
            <a:ext cx="25603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69538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69638" y="3063240"/>
            <a:ext cx="731520" cy="7315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2" name="Image 2" descr="/home/claude/marginmind/icons/checksqu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834" y="3253435"/>
            <a:ext cx="351130" cy="35113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3606698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Recorded</a:t>
            </a:r>
            <a:endParaRPr lang="en-US" sz="1350" dirty="0"/>
          </a:p>
        </p:txBody>
      </p:sp>
      <p:pic>
        <p:nvPicPr>
          <p:cNvPr id="14" name="Image 3" descr="/home/claude/marginmind/icons/arrowright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3611880"/>
            <a:ext cx="256032" cy="25603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90437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190537" y="3063240"/>
            <a:ext cx="731520" cy="7315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7" name="Image 4" descr="/home/claude/marginmind/icons/pack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732" y="3253435"/>
            <a:ext cx="351130" cy="35113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27597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Updated</a:t>
            </a:r>
            <a:endParaRPr lang="en-US" sz="1350" dirty="0"/>
          </a:p>
        </p:txBody>
      </p:sp>
      <p:pic>
        <p:nvPicPr>
          <p:cNvPr id="19" name="Image 5" descr="/home/claude/marginmind/icons/arrowright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8730" y="3611880"/>
            <a:ext cx="256032" cy="25603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311335" y="2743200"/>
            <a:ext cx="2331720" cy="1920240"/>
          </a:xfrm>
          <a:prstGeom prst="roundRect">
            <a:avLst>
              <a:gd name="adj" fmla="val 5714"/>
            </a:avLst>
          </a:prstGeom>
          <a:solidFill>
            <a:srgbClr val="242C6E"/>
          </a:solidFill>
          <a:ln w="12700">
            <a:solidFill>
              <a:srgbClr val="39418A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10111435" y="3063240"/>
            <a:ext cx="731520" cy="7315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2" name="Image 6" descr="/home/claude/marginmind/icons/barchar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1630" y="3253435"/>
            <a:ext cx="351130" cy="35113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448495" y="397764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Updated</a:t>
            </a:r>
            <a:endParaRPr lang="en-US" sz="1350" dirty="0"/>
          </a:p>
        </p:txBody>
      </p:sp>
      <p:sp>
        <p:nvSpPr>
          <p:cNvPr id="24" name="Text 15"/>
          <p:cNvSpPr txBox="1"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connects the shopping experience directly with the merchant’s business dashboard.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arginmind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8918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25112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37360"/>
            <a:ext cx="594360" cy="5943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1" name="Image 1" descr="/home/claude/marginmind/icons/ser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246" y="18918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SQLAlchemy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01584" y="150876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7373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marginmind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718" y="189189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07424" y="1764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560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730752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959352"/>
            <a:ext cx="594360" cy="5943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1" name="Image 3" descr="/home/claude/marginmind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41138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Model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25112" y="3730752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3959352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marginmind/icons/creditc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246" y="411388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0952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System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01584" y="3730752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959352"/>
            <a:ext cx="594360" cy="5943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31" name="Image 5" descr="/home/claude/marginmind/icons/l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4718" y="411388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107424" y="39867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Framework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330184" y="47823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79930" y="1307592"/>
            <a:ext cx="7831836" cy="5294376"/>
          </a:xfrm>
          <a:prstGeom prst="roundRect">
            <a:avLst>
              <a:gd name="adj" fmla="val 172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5" name="Image 0" descr="/home/claude/marginmind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9658" y="1417320"/>
            <a:ext cx="7612380" cy="5074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DASHBOARDS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MarginMind Different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store dashboards show merchants what already happened. MarginMind focuses on the next decision.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0749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DASHBOARD SHOWS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6A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490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6A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6634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200400" y="46634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A6AD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₹7,995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852160" y="2103120"/>
            <a:ext cx="5760720" cy="384048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2377440"/>
            <a:ext cx="640080" cy="64008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5" name="Image 0" descr="/home/claude/marginmind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8621" y="2543861"/>
            <a:ext cx="307238" cy="307238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995160" y="245059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 HELPS ANSWER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30632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should I do about it?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6172200" y="3977640"/>
            <a:ext cx="5120640" cy="0"/>
          </a:xfrm>
          <a:prstGeom prst="line">
            <a:avLst/>
          </a:prstGeom>
          <a:noFill/>
          <a:ln w="12700">
            <a:solidFill>
              <a:srgbClr val="3941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172200" y="41605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merchant gets information, a recommendation and control over the final action — all in one place.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and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decisions should not happen without the merchant knowing. MarginMind follows a simple approach.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926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marginmin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314005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828800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Recommends</a:t>
            </a:r>
            <a:endParaRPr lang="en-US" sz="1600" dirty="0"/>
          </a:p>
        </p:txBody>
      </p:sp>
      <p:pic>
        <p:nvPicPr>
          <p:cNvPr id="9" name="Image 1" descr="/home/claude/marginmind/icons/arrow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472" y="3218688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95648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69968" y="2926080"/>
            <a:ext cx="822960" cy="82296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2" name="Image 2" descr="/home/claude/marginmind/icons/users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937" y="3140050"/>
            <a:ext cx="395021" cy="39502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775808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Merchant Decides</a:t>
            </a:r>
            <a:endParaRPr lang="en-US" sz="1600" dirty="0"/>
          </a:p>
        </p:txBody>
      </p:sp>
      <p:pic>
        <p:nvPicPr>
          <p:cNvPr id="14" name="Image 3" descr="/home/claude/marginmind/icons/arrow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0479" y="3218688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442655" y="2377440"/>
            <a:ext cx="32004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8716975" y="2926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/home/claude/marginmind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0945" y="3140050"/>
            <a:ext cx="395021" cy="395021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722815" y="288036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Records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20" name="Shape 13"/>
          <p:cNvSpPr/>
          <p:nvPr/>
        </p:nvSpPr>
        <p:spPr>
          <a:xfrm>
            <a:off x="868680" y="4983480"/>
            <a:ext cx="685800" cy="68580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1" name="Image 5" descr="/home/claude/marginmind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6988" y="5161788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828800" y="4709160"/>
            <a:ext cx="9418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approved action can be tracked through the audit log.</a:t>
            </a:r>
            <a:endParaRPr lang="en-US" sz="1700" dirty="0"/>
          </a:p>
        </p:txBody>
      </p:sp>
      <p:sp>
        <p:nvSpPr>
          <p:cNvPr id="23" name="Text 15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marginmind/icons/gif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Bundle Suggestions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complementary products and suggest bundles based on sales, stock and product relationships.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691640"/>
            <a:ext cx="548640" cy="54864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11" name="Image 1" descr="/home/claude/marginmind/icons/mega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358" y="18342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53712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Recommendations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53712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suitable promotions and offers for products that need more attention.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01584" y="1463040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6916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marginmind/icons/trendingu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830" y="18342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3774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Forecasting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27614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future sales trends to help merchants plan inventory.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67912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096512"/>
            <a:ext cx="548640" cy="54864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21" name="Image 3" descr="/home/claude/marginmind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4239158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77240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5166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purchasing patterns and identify opportunities for better product targeting.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867912"/>
            <a:ext cx="35204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3E8F2"/>
            </a:solidFill>
            <a:prstDash val="solid"/>
          </a:ln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0965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marginmind/icons/slidersic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6358" y="4239158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53712" y="478231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Multi-Action Automation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53712" y="51663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MarginMind from recommendations to more merchant-approved business actions.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8101584" y="3867912"/>
            <a:ext cx="35204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 is to make MarginMind useful for more parts of everyday merchant operations.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6AD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572000" cy="4572000"/>
          </a:xfrm>
          <a:prstGeom prst="ellipse">
            <a:avLst/>
          </a:prstGeom>
          <a:solidFill>
            <a:srgbClr val="161C4D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242C6E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234440"/>
            <a:ext cx="960120" cy="960120"/>
          </a:xfrm>
          <a:prstGeom prst="ellipse">
            <a:avLst/>
          </a:prstGeom>
          <a:solidFill>
            <a:srgbClr val="00B893"/>
          </a:solidFill>
          <a:ln/>
        </p:spPr>
      </p:sp>
      <p:pic>
        <p:nvPicPr>
          <p:cNvPr id="5" name="Image 0" descr="/home/claude/marginmind/icons/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871" y="1484071"/>
            <a:ext cx="460858" cy="460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3317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MarginMind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749808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data to better decisions.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77240" y="3794760"/>
            <a:ext cx="1280160" cy="0"/>
          </a:xfrm>
          <a:prstGeom prst="line">
            <a:avLst/>
          </a:prstGeom>
          <a:noFill/>
          <a:ln w="38100">
            <a:solidFill>
              <a:srgbClr val="00B89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808" y="40233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merchant should not have to spend hours looking through numbers just to figure out what to do next. MarginMind brings the numbers, reasoning and decision process together — while keeping the merchant in control.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MarginMind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2026-09-05T16:01:48Z</dcterms:created>
  <dcterms:modified xsi:type="dcterms:W3CDTF">2026-09-05T16:01:48Z</dcterms:modified>
</cp:coreProperties>
</file>